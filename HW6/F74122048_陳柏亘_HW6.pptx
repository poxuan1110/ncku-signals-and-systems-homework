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e8da74c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e8da74c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e8da74cc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e8da74cc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8da74cc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8da74c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訊號與系統HW6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資訊116 </a:t>
            </a:r>
            <a:r>
              <a:rPr lang="zh-TW"/>
              <a:t>F74122048 </a:t>
            </a:r>
            <a:r>
              <a:rPr lang="zh-TW"/>
              <a:t>陳柏亘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時域分析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502350" y="1152475"/>
            <a:ext cx="432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900">
                <a:solidFill>
                  <a:schemeClr val="dk1"/>
                </a:solidFill>
              </a:rPr>
              <a:t>原始 ECG 訊號 (藍線)</a:t>
            </a:r>
            <a:r>
              <a:rPr lang="zh-TW" sz="900">
                <a:solidFill>
                  <a:schemeClr val="dk1"/>
                </a:solidFill>
              </a:rPr>
              <a:t> ：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zh-TW" sz="900">
                <a:solidFill>
                  <a:schemeClr val="dk1"/>
                </a:solidFill>
              </a:rPr>
              <a:t>具有明顯的 QRS 波群，但整體訊號基線上充滿了細碎的高頻毛刺雜訊。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900">
                <a:solidFill>
                  <a:schemeClr val="dk1"/>
                </a:solidFill>
              </a:rPr>
              <a:t>直接降採樣訊號 (紅線)</a:t>
            </a:r>
            <a:r>
              <a:rPr lang="zh-TW" sz="900">
                <a:solidFill>
                  <a:schemeClr val="dk1"/>
                </a:solidFill>
              </a:rPr>
              <a:t> ：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zh-TW" sz="900">
                <a:solidFill>
                  <a:schemeClr val="dk1"/>
                </a:solidFill>
              </a:rPr>
              <a:t>現象</a:t>
            </a:r>
            <a:r>
              <a:rPr lang="zh-TW" sz="900">
                <a:solidFill>
                  <a:schemeClr val="dk1"/>
                </a:solidFill>
              </a:rPr>
              <a:t>：波形變得毛躁且不規則，甚至有些原本平滑的波段出現了奇怪的低頻抖動。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zh-TW" sz="900">
                <a:solidFill>
                  <a:schemeClr val="dk1"/>
                </a:solidFill>
              </a:rPr>
              <a:t>原因</a:t>
            </a:r>
            <a:r>
              <a:rPr lang="zh-TW" sz="900">
                <a:solidFill>
                  <a:schemeClr val="dk1"/>
                </a:solidFill>
              </a:rPr>
              <a:t>：因為每 5 個點抓 1 點 ，</a:t>
            </a:r>
            <a:r>
              <a:rPr lang="zh-TW" sz="900">
                <a:solidFill>
                  <a:schemeClr val="dk1"/>
                </a:solidFill>
              </a:rPr>
              <a:t>沒有經過處理的</a:t>
            </a:r>
            <a:r>
              <a:rPr lang="zh-TW" sz="900">
                <a:solidFill>
                  <a:schemeClr val="dk1"/>
                </a:solidFill>
              </a:rPr>
              <a:t>高頻雜訊，直接 fold back 成低頻訊號，導致時域波形嚴重失真。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900">
                <a:solidFill>
                  <a:schemeClr val="dk1"/>
                </a:solidFill>
              </a:rPr>
              <a:t>resample函數降採樣 (綠線)</a:t>
            </a:r>
            <a:r>
              <a:rPr lang="zh-TW" sz="900">
                <a:solidFill>
                  <a:schemeClr val="dk1"/>
                </a:solidFill>
              </a:rPr>
              <a:t> ：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zh-TW" sz="900">
                <a:solidFill>
                  <a:schemeClr val="dk1"/>
                </a:solidFill>
              </a:rPr>
              <a:t>現象</a:t>
            </a:r>
            <a:r>
              <a:rPr lang="zh-TW" sz="900">
                <a:solidFill>
                  <a:schemeClr val="dk1"/>
                </a:solidFill>
              </a:rPr>
              <a:t>：基線變得非常</a:t>
            </a:r>
            <a:r>
              <a:rPr b="1" lang="zh-TW" sz="900">
                <a:solidFill>
                  <a:schemeClr val="dk1"/>
                </a:solidFill>
              </a:rPr>
              <a:t>平滑</a:t>
            </a:r>
            <a:r>
              <a:rPr lang="zh-TW" sz="900">
                <a:solidFill>
                  <a:schemeClr val="dk1"/>
                </a:solidFill>
              </a:rPr>
              <a:t>，原本藍線上的高頻毛刺幾乎消失，心電圖的特徵（P波、QRS波、T波）反而變得更清晰、更乾淨。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zh-TW" sz="900">
                <a:solidFill>
                  <a:schemeClr val="dk1"/>
                </a:solidFill>
              </a:rPr>
              <a:t>原因</a:t>
            </a:r>
            <a:r>
              <a:rPr lang="zh-TW" sz="900">
                <a:solidFill>
                  <a:schemeClr val="dk1"/>
                </a:solidFill>
              </a:rPr>
              <a:t>：MATLAB 的 resample 函數在降採樣前，會自動加上一個低通的</a:t>
            </a:r>
            <a:r>
              <a:rPr b="1" lang="zh-TW" sz="900">
                <a:solidFill>
                  <a:schemeClr val="dk1"/>
                </a:solidFill>
              </a:rPr>
              <a:t>抗混疊濾波器（Polyphase Anti-aliasing Filter）</a:t>
            </a:r>
            <a:r>
              <a:rPr lang="zh-TW" sz="900">
                <a:solidFill>
                  <a:schemeClr val="dk1"/>
                </a:solidFill>
              </a:rPr>
              <a:t> 。它把高頻雜訊濾掉後才進行抽樣，因此達到了</a:t>
            </a:r>
            <a:r>
              <a:rPr b="1" lang="zh-TW" sz="900">
                <a:solidFill>
                  <a:schemeClr val="dk1"/>
                </a:solidFill>
              </a:rPr>
              <a:t>降採樣兼具濾波</a:t>
            </a:r>
            <a:r>
              <a:rPr lang="zh-TW" sz="900">
                <a:solidFill>
                  <a:schemeClr val="dk1"/>
                </a:solidFill>
              </a:rPr>
              <a:t>的完美效果。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/>
          </a:p>
        </p:txBody>
      </p:sp>
      <p:pic>
        <p:nvPicPr>
          <p:cNvPr id="62" name="Google Shape;62;p14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60149" cy="274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頻</a:t>
            </a:r>
            <a:r>
              <a:rPr lang="zh-TW"/>
              <a:t>域分析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502350" y="1152475"/>
            <a:ext cx="433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zh-TW" sz="1100">
                <a:solidFill>
                  <a:schemeClr val="dk1"/>
                </a:solidFill>
              </a:rPr>
              <a:t>原始訊號頻譜 (藍線)</a:t>
            </a:r>
            <a:r>
              <a:rPr lang="zh-TW" sz="1100">
                <a:solidFill>
                  <a:schemeClr val="dk1"/>
                </a:solidFill>
              </a:rPr>
              <a:t>：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100">
                <a:solidFill>
                  <a:schemeClr val="dk1"/>
                </a:solidFill>
              </a:rPr>
              <a:t>採樣率 fs = 1000 Hz，其奈奎斯特頻率（Nyquist Frequency）為 500 Hz。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100">
                <a:solidFill>
                  <a:schemeClr val="dk1"/>
                </a:solidFill>
              </a:rPr>
              <a:t>主要的 ECG 能量集中在 0 ~ 50 Hz之間。尤其在 </a:t>
            </a:r>
            <a:r>
              <a:rPr b="1" lang="zh-TW" sz="1100">
                <a:solidFill>
                  <a:schemeClr val="dk1"/>
                </a:solidFill>
              </a:rPr>
              <a:t>180 Hz </a:t>
            </a:r>
            <a:r>
              <a:rPr lang="zh-TW" sz="1100">
                <a:solidFill>
                  <a:schemeClr val="dk1"/>
                </a:solidFill>
              </a:rPr>
              <a:t>附近，有個顯著的</a:t>
            </a:r>
            <a:r>
              <a:rPr b="1" lang="zh-TW" sz="1100">
                <a:solidFill>
                  <a:schemeClr val="dk1"/>
                </a:solidFill>
              </a:rPr>
              <a:t>高頻雜訊</a:t>
            </a:r>
            <a:r>
              <a:rPr lang="zh-TW" sz="1100">
                <a:solidFill>
                  <a:schemeClr val="dk1"/>
                </a:solidFill>
              </a:rPr>
              <a:t>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zh-TW" sz="1100">
                <a:solidFill>
                  <a:schemeClr val="dk1"/>
                </a:solidFill>
              </a:rPr>
              <a:t>直接降採樣頻譜 (紅線)</a:t>
            </a:r>
            <a:r>
              <a:rPr lang="zh-TW" sz="1100">
                <a:solidFill>
                  <a:schemeClr val="dk1"/>
                </a:solidFill>
              </a:rPr>
              <a:t> ：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100">
                <a:solidFill>
                  <a:schemeClr val="dk1"/>
                </a:solidFill>
              </a:rPr>
              <a:t>降採樣到 fs = 200 Hz，新的奈奎斯特頻率變成了 </a:t>
            </a:r>
            <a:r>
              <a:rPr b="1" lang="zh-TW" sz="1100">
                <a:solidFill>
                  <a:schemeClr val="dk1"/>
                </a:solidFill>
              </a:rPr>
              <a:t>100 Hz</a:t>
            </a:r>
            <a:r>
              <a:rPr lang="zh-TW" sz="1100">
                <a:solidFill>
                  <a:schemeClr val="dk1"/>
                </a:solidFill>
              </a:rPr>
              <a:t>。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zh-TW" sz="1100">
                <a:solidFill>
                  <a:schemeClr val="dk1"/>
                </a:solidFill>
              </a:rPr>
              <a:t>關鍵混疊現象</a:t>
            </a:r>
            <a:r>
              <a:rPr lang="zh-TW" sz="1100">
                <a:solidFill>
                  <a:schemeClr val="dk1"/>
                </a:solidFill>
              </a:rPr>
              <a:t>：原本在 180 Hz 的高頻突尖，因為超過新的 100 Hz 上限，會以 100 Hz 為軸心向左 fold back。混疊後位置 |180 Hz - 200 Hz| = 20 Hz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zh-TW" sz="1100">
                <a:solidFill>
                  <a:schemeClr val="dk1"/>
                </a:solidFill>
              </a:rPr>
              <a:t>resample 函數頻譜 (綠線)</a:t>
            </a:r>
            <a:r>
              <a:rPr lang="zh-TW" sz="1100">
                <a:solidFill>
                  <a:schemeClr val="dk1"/>
                </a:solidFill>
              </a:rPr>
              <a:t> ：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100">
                <a:solidFill>
                  <a:schemeClr val="dk1"/>
                </a:solidFill>
              </a:rPr>
              <a:t>因為有內建的低通濾波器 ，在進行降採樣前，就已經把所有大於 100 Hz 的雜訊能量徹底砍掉了。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100">
                <a:solidFill>
                  <a:schemeClr val="dk1"/>
                </a:solidFill>
              </a:rPr>
              <a:t>因此，在綠線頻譜中，</a:t>
            </a:r>
            <a:r>
              <a:rPr b="1" lang="zh-TW" sz="1100">
                <a:solidFill>
                  <a:schemeClr val="dk1"/>
                </a:solidFill>
              </a:rPr>
              <a:t>20 Hz 處非常乾淨</a:t>
            </a:r>
            <a:r>
              <a:rPr lang="zh-TW" sz="1100">
                <a:solidFill>
                  <a:schemeClr val="dk1"/>
                </a:solidFill>
              </a:rPr>
              <a:t>，完全沒有出現紅線那樣的混疊突尖，成功保留了真實的低頻 ECG 訊號。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69" name="Google Shape;69;p15" title="Figure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65326" cy="27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結論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 sz="1100">
                <a:solidFill>
                  <a:schemeClr val="dk1"/>
                </a:solidFill>
              </a:rPr>
              <a:t>為什麼不能直接 Downsample？</a:t>
            </a:r>
            <a:r>
              <a:rPr lang="zh-TW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如果直接每隔 N 點取樣 ，高於新 Nyquist 頻率的高頻訊號會發生</a:t>
            </a:r>
            <a:r>
              <a:rPr b="1" lang="zh-TW" sz="1100">
                <a:solidFill>
                  <a:schemeClr val="dk1"/>
                </a:solidFill>
              </a:rPr>
              <a:t>混疊（Aliasing）</a:t>
            </a:r>
            <a:r>
              <a:rPr lang="zh-TW" sz="1100">
                <a:solidFill>
                  <a:schemeClr val="dk1"/>
                </a:solidFill>
              </a:rPr>
              <a:t>，折返到低頻區段，變成無法修正的雜訊 。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zh-TW" sz="1100">
                <a:solidFill>
                  <a:schemeClr val="dk1"/>
                </a:solidFill>
              </a:rPr>
              <a:t>正確做法：</a:t>
            </a:r>
            <a:r>
              <a:rPr lang="zh-TW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必須嚴格遵守 Nyquist Theorem。在降低採樣率之前，一定要先使用</a:t>
            </a:r>
            <a:r>
              <a:rPr b="1" lang="zh-TW" sz="1100">
                <a:solidFill>
                  <a:schemeClr val="dk1"/>
                </a:solidFill>
              </a:rPr>
              <a:t>低通濾波器</a:t>
            </a:r>
            <a:r>
              <a:rPr lang="zh-TW" sz="1100">
                <a:solidFill>
                  <a:schemeClr val="dk1"/>
                </a:solidFill>
              </a:rPr>
              <a:t>將高於新 Nyquist 頻率的成分濾除，才能確保訊號不失真。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